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73-tap linear-phase low-pass FIR on Artix-7. Two ideas: coefficient symmetry halves the multiplies (73 to 37), and time-multiplexing reuses one MAC 37 times so the whole filter fits in a single DSP slice.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direct-form implementation needs one multiplier per tap. Folding plus time-multiplexing brings that to a single DSP48E1.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milestones. The golden C model came first deliberately: it is the specification the RTL is measured against.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counter, cycle_cnt, drives both the tap mux and the coefficient ROM address. That shared counter is the essence of time-multiplexing.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Coefficients get the most fractional bits because they peak at exactly 1.0 — 14 bits is the most precision that still represents 1.0 in 16 bits.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modules. shift_reg alone accounts for 1168 of the 1220 flip-flops.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COMPUTE is 37 cycles because cycle_cnt runs 0 to 36 inclusive. 100 samples x 41 = 4100 cycles = 41 microseconds at 100 MHz.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pass_count and fail_count on the left, and the 41.035 microsecond marker top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Path delay is derived from the constraint minus WNS: 10.000 - 2.262 = 7.738 ns. Run report_timing -max_paths 1 in Vivado to have it name the exact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206240" cy="42062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937760"/>
            <a:ext cx="2377440" cy="2377440"/>
          </a:xfrm>
          <a:prstGeom prst="ellipse">
            <a:avLst/>
          </a:prstGeom>
          <a:solidFill>
            <a:srgbClr val="16395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74520"/>
            <a:ext cx="8778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and FPGA Implementation of a</a:t>
            </a:r>
            <a:endParaRPr lang="en-US" sz="36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73-Tap Symmetric FIR Filter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52044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Time-Multiplexed MAC Architecture on Xilinx Artix-7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443984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 Samad     |     Abdur Rehman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828032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 Design &amp; Verification  ·  Ghulam Ishaq Khan Institute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3  ·  September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481328"/>
            <a:ext cx="402336" cy="402336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481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33856" y="1481328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" y="2176272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2176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33856" y="2176272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Schedule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6928" y="2871216"/>
            <a:ext cx="402336" cy="402336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28712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33856" y="2871216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Block Diagram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6928" y="356616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3566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33856" y="356616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6928" y="4261104"/>
            <a:ext cx="402336" cy="402336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66928" y="4261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33856" y="4261104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Fixed-Point Format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66928" y="4956048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66928" y="4956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133856" y="4956048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Symmetry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66928" y="5650992"/>
            <a:ext cx="402336" cy="402336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66928" y="5650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133856" y="5650992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Time-Multiplexed MAC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55080" y="1481328"/>
            <a:ext cx="402336" cy="402336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355080" y="1481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922008" y="1481328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Modules &amp; Control FSM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55080" y="2176272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355080" y="2176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922008" y="2176272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SystemVerilog Code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55080" y="2871216"/>
            <a:ext cx="402336" cy="402336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355080" y="28712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922008" y="2871216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&amp; Simulation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55080" y="356616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355080" y="3566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6922008" y="356616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Utilisation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55080" y="4261104"/>
            <a:ext cx="402336" cy="402336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355080" y="4261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6922008" y="4261104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&amp; Critical Path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55080" y="4956048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355080" y="4956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6922008" y="4956048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Difficulties &amp; Solutions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55080" y="5650992"/>
            <a:ext cx="402336" cy="402336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355080" y="5650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6922008" y="5650992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&amp; Conclusion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26464"/>
            <a:ext cx="6492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7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73-tap low-pass FIR filter in SystemVerilog</a:t>
            </a:r>
            <a:endParaRPr lang="en-US" sz="175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7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Xilinx Artix-7 FPGA</a:t>
            </a:r>
            <a:endParaRPr lang="en-US" sz="175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7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a bit-exact golden C model — zero tolerance</a:t>
            </a:r>
            <a:endParaRPr lang="en-US" sz="175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7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 hardware: 1 multiplier, 1 adder, 1 accumulator</a:t>
            </a:r>
            <a:endParaRPr lang="en-US" sz="175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7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on real hardware via switches and LEDs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269480" y="1371600"/>
            <a:ext cx="4352544" cy="3054096"/>
          </a:xfrm>
          <a:prstGeom prst="roundRect">
            <a:avLst>
              <a:gd name="adj" fmla="val 1796"/>
            </a:avLst>
          </a:prstGeom>
          <a:solidFill>
            <a:srgbClr val="0F2A47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498080" y="16459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Design Constraint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498080" y="217627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parallel multipliers will not fit on the device.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3054096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area for latency — reuse one MAC unit over many clock cycles.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66928" y="4809744"/>
            <a:ext cx="26060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66928" y="4999939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577535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taps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83280" y="4809744"/>
            <a:ext cx="26060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383280" y="4999939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577535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99632" y="4809744"/>
            <a:ext cx="26060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199632" y="4999939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6199632" y="577535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 slice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15984" y="4809744"/>
            <a:ext cx="26060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015984" y="4999939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 µs</a:t>
            </a:r>
            <a:endParaRPr lang="en-US" sz="3400" dirty="0"/>
          </a:p>
        </p:txBody>
      </p:sp>
      <p:sp>
        <p:nvSpPr>
          <p:cNvPr id="21" name="Text 19"/>
          <p:cNvSpPr txBox="1"/>
          <p:nvPr/>
        </p:nvSpPr>
        <p:spPr>
          <a:xfrm>
            <a:off x="9015984" y="577535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100 samples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Schedule</a:t>
            </a:r>
            <a:endParaRPr lang="en-US" sz="3000" dirty="0"/>
          </a:p>
        </p:txBody>
      </p:sp>
      <p:pic>
        <p:nvPicPr>
          <p:cNvPr id="5" name="Image 0" descr="timelin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6768" y="1298448"/>
            <a:ext cx="8138160" cy="445312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66928" y="5916168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model → block diagram → RTL &amp; simulation → FPGA implementation → reports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Top-Level Block Diagram</a:t>
            </a:r>
            <a:endParaRPr lang="en-US" sz="3000" dirty="0"/>
          </a:p>
        </p:txBody>
      </p:sp>
      <p:pic>
        <p:nvPicPr>
          <p:cNvPr id="5" name="Image 0" descr="block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1298448"/>
            <a:ext cx="8412480" cy="445312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66928" y="5916168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register → tap-pair mux → adder → multiplier → accumulator → rounding → y[n]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 Specifications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35024"/>
          <a:ext cx="64008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383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 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FIR, low-pass, linear phase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taps  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Symmetry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h[k] = h[72 − k]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word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16-bit signed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Coefficient word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16-bit signed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word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16-bit signed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Multipliers used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 (DSP48E1)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Clock frequency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MHz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vector length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samples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269480" y="1335024"/>
            <a:ext cx="4352544" cy="2157984"/>
          </a:xfrm>
          <a:prstGeom prst="roundRect">
            <a:avLst>
              <a:gd name="adj" fmla="val 2542"/>
            </a:avLst>
          </a:prstGeom>
          <a:solidFill>
            <a:srgbClr val="0F2A47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479792" y="159105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equation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479792" y="213969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y[n]  =  Σ  h[k] · x[n − k]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7479792" y="274320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0 … 72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269480" y="3730752"/>
            <a:ext cx="4352544" cy="1719072"/>
          </a:xfrm>
          <a:prstGeom prst="roundRect">
            <a:avLst>
              <a:gd name="adj" fmla="val 3191"/>
            </a:avLst>
          </a:prstGeom>
          <a:solidFill>
            <a:srgbClr val="F1F5F8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7479792" y="39319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73 taps?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479792" y="42976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taps give a sharper transition band. We absorbed the cost with folding rather than reducing the tap count.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Fixed-Point Format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53312"/>
          <a:ext cx="68580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914400"/>
                <a:gridCol w="1371600"/>
                <a:gridCol w="1188720"/>
                <a:gridCol w="1188720"/>
              </a:tblGrid>
              <a:tr h="5349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Frac. bits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</a:tr>
              <a:tr h="5349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  x[n]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Q(3,10)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 32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49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Coefficient   h[k]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Q(2,14)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 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49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Tap sum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Q(3,10)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49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Q(6,24)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49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Accumulator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Q(12,24)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 guard bits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49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  y[n]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Q(3,13)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 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35240" y="1353312"/>
            <a:ext cx="3986784" cy="2011680"/>
          </a:xfrm>
          <a:prstGeom prst="roundRect">
            <a:avLst>
              <a:gd name="adj" fmla="val 2727"/>
            </a:avLst>
          </a:prstGeom>
          <a:solidFill>
            <a:srgbClr val="0F2A47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845552" y="15727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 bits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1956816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⌈ log₂ 37 ⌉ = 6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+ 6 = 38 bits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accumulator provably cannot overflow.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635240" y="3566160"/>
            <a:ext cx="3986784" cy="2011680"/>
          </a:xfrm>
          <a:prstGeom prst="roundRect">
            <a:avLst>
              <a:gd name="adj" fmla="val 2727"/>
            </a:avLst>
          </a:prstGeom>
          <a:solidFill>
            <a:srgbClr val="F1F5F8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845552" y="37673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stage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845552" y="4151376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(+ 2¹⁰)
</a:t>
            </a:r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(&gt;&gt;&gt; 11)
</a:t>
            </a:r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saturate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 ± 32767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566928" y="5248656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fractional bits in the product, 13 wanted at the output  →  discard 24 − 13 = 11 bits.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Coefficient Symmetry — Folding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353312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Linear-phase FIR  ⇒  h[k] = h[N − 1 − k]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66928" y="1938528"/>
            <a:ext cx="6583680" cy="1261872"/>
          </a:xfrm>
          <a:prstGeom prst="roundRect">
            <a:avLst>
              <a:gd name="adj" fmla="val 4348"/>
            </a:avLst>
          </a:prstGeom>
          <a:solidFill>
            <a:srgbClr val="0F2A47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68096" y="2176272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y[n] = Σ h[k] ( x[n−k] + x[n−72+k] )  +  h[36] · x[n−36]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2651760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0 … 35                                                        centre tap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3602736"/>
            <a:ext cx="6583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6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multiplies  →  37 multiplies</a:t>
            </a:r>
            <a:endParaRPr lang="en-US" sz="165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6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ROM: 73  →  37 words</a:t>
            </a:r>
            <a:endParaRPr lang="en-US" sz="165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6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49 % arithmetic saving, zero accuracy loss</a:t>
            </a:r>
            <a:endParaRPr lang="en-US" sz="165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6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an algebraic identity, not an approximation</a:t>
            </a:r>
            <a:endParaRPr lang="en-US" sz="16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35240" y="1353312"/>
          <a:ext cx="3986784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1975104"/>
                <a:gridCol w="1051560"/>
              </a:tblGrid>
              <a:tr h="4983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Tap pair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Coeff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x[0] , x[72]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h[0]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x[1] , x[71]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h[1]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⋮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⋮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⋮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x[35] , x[37]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h[35]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x[36] ,  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h[36]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7635240" y="4498848"/>
            <a:ext cx="3986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centre tap is unpaired — the second mux outputs zero so h[36] is counted exactly once.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Time-Multiplexed MAC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335024"/>
            <a:ext cx="11055096" cy="960120"/>
          </a:xfrm>
          <a:prstGeom prst="roundRect">
            <a:avLst>
              <a:gd name="adj" fmla="val 5714"/>
            </a:avLst>
          </a:prstGeom>
          <a:solidFill>
            <a:srgbClr val="0F2A47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335024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 =  Multiply–Accumulate 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unit that computes  acc ← acc + a × b  every clock cycle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688336"/>
            <a:ext cx="6309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6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multiplier and one accumulator exist in hardware</a:t>
            </a:r>
            <a:endParaRPr lang="en-US" sz="165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6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reused 37 times per output sample</a:t>
            </a:r>
            <a:endParaRPr lang="en-US" sz="165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6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counter drives the tap mux and the ROM address</a:t>
            </a:r>
            <a:endParaRPr lang="en-US" sz="165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6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accumulator is cleared at the start of every new sample</a:t>
            </a:r>
            <a:endParaRPr lang="en-US" sz="16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2688336"/>
          <a:ext cx="4535424" cy="914400"/>
        </p:xfrm>
        <a:graphic>
          <a:graphicData uri="http://schemas.openxmlformats.org/drawingml/2006/table">
            <a:tbl>
              <a:tblPr/>
              <a:tblGrid>
                <a:gridCol w="1792224"/>
                <a:gridCol w="1371600"/>
                <a:gridCol w="13716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parallel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Time-multiplexed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Multipliers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Cycles per sample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DSP slices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73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Fits on Artix-7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7086600" y="5550408"/>
            <a:ext cx="4535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is traded for latency — and at 2.4 MSa/s the latency costs nothing.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RTL Module Hierarchy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35024"/>
          <a:ext cx="11055096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843016"/>
                <a:gridCol w="2834640"/>
              </a:tblGrid>
              <a:tr h="4526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Integration, debouncer, output RAM, LEDs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input_rom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× 16 test vectors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ROM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shift_reg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 × 16 delay line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Sequential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tap_pair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Selects x[k] and x[72−k]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Comb. mux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tap_adder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x[k] + x[72−k]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Combinational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coeff_rom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 × 16 coefficients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ROM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multiplier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× coeff  (32-bit)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DSP48E1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accumulator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38-bit running sum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Sequential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rounding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 / shift / saturate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Comb. + reg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control_fsm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5-state Moore controller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Sequential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FSM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69848" y="1444752"/>
            <a:ext cx="3383280" cy="603504"/>
          </a:xfrm>
          <a:prstGeom prst="roundRect">
            <a:avLst>
              <a:gd name="adj" fmla="val 15152"/>
            </a:avLst>
          </a:prstGeom>
          <a:solidFill>
            <a:srgbClr val="F1F5F8"/>
          </a:solidFill>
          <a:ln w="12700">
            <a:solidFill>
              <a:srgbClr val="C3D0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9848" y="1444752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2761488" y="2048256"/>
            <a:ext cx="0" cy="329184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069848" y="2377440"/>
            <a:ext cx="3383280" cy="603504"/>
          </a:xfrm>
          <a:prstGeom prst="roundRect">
            <a:avLst>
              <a:gd name="adj" fmla="val 15152"/>
            </a:avLst>
          </a:prstGeom>
          <a:solidFill>
            <a:srgbClr val="F1F5F8"/>
          </a:solidFill>
          <a:ln w="12700">
            <a:solidFill>
              <a:srgbClr val="C3D0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69848" y="2377440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2761488" y="2980944"/>
            <a:ext cx="0" cy="329184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069848" y="3310128"/>
            <a:ext cx="3383280" cy="603504"/>
          </a:xfrm>
          <a:prstGeom prst="roundRect">
            <a:avLst>
              <a:gd name="adj" fmla="val 15152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69848" y="3310128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 × 37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2761488" y="3913632"/>
            <a:ext cx="0" cy="329184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069848" y="4242816"/>
            <a:ext cx="3383280" cy="603504"/>
          </a:xfrm>
          <a:prstGeom prst="roundRect">
            <a:avLst>
              <a:gd name="adj" fmla="val 15152"/>
            </a:avLst>
          </a:prstGeom>
          <a:solidFill>
            <a:srgbClr val="F1F5F8"/>
          </a:solidFill>
          <a:ln w="12700">
            <a:solidFill>
              <a:srgbClr val="C3D0D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69848" y="4242816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ROUNDING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2761488" y="4846320"/>
            <a:ext cx="0" cy="329184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069848" y="5175504"/>
            <a:ext cx="3383280" cy="603504"/>
          </a:xfrm>
          <a:prstGeom prst="roundRect">
            <a:avLst>
              <a:gd name="adj" fmla="val 15152"/>
            </a:avLst>
          </a:prstGeom>
          <a:solidFill>
            <a:srgbClr val="F1F5F8"/>
          </a:solidFill>
          <a:ln w="12700">
            <a:solidFill>
              <a:srgbClr val="C3D0D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69848" y="5175504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OUTPUT_READY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1069848" y="579729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back to IDLE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444752"/>
          <a:ext cx="6775704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935224"/>
                <a:gridCol w="1371600"/>
              </a:tblGrid>
              <a:tr h="4617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signal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IDLE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shift_en, clear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acc_enb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ROUNDING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OUTPUT_READY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out_enb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per sample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4846320" y="4956048"/>
            <a:ext cx="6775704" cy="1325880"/>
          </a:xfrm>
          <a:prstGeom prst="roundRect">
            <a:avLst>
              <a:gd name="adj" fmla="val 4138"/>
            </a:avLst>
          </a:prstGeom>
          <a:solidFill>
            <a:srgbClr val="0F2A47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5074920" y="5157216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Moore machine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074920" y="5504688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depend on the state alone, so every control signal is stable for the whole cycle — glitch-free and safe to drive enables.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— Control FSM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335024"/>
            <a:ext cx="7315200" cy="4901184"/>
          </a:xfrm>
          <a:prstGeom prst="roundRect">
            <a:avLst>
              <a:gd name="adj" fmla="val 1119"/>
            </a:avLst>
          </a:prstGeom>
          <a:solidFill>
            <a:srgbClr val="EDF2F6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13232" y="1444752"/>
            <a:ext cx="7022592" cy="4681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(state)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IDLE:    if (sample_valid) next_state = LOAD;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LOAD: begin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shift_en   = 1'b1;          // push the new sample in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clear      = 1'b1;          // zero the accumulator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next_state = COMPUTE;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COMPUTE: begin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acc_enb = 1'b1;             // 37 MAC cycles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(cycle_cnt == 6'd36) next_state = ROUNDING;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ROUNDING:     next_state = OUTPUT_READY;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OUTPUT_READY: begin out_enb = 1'b1; next_state = IDLE; end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endcase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092440" y="1335024"/>
            <a:ext cx="3529584" cy="2359152"/>
          </a:xfrm>
          <a:prstGeom prst="roundRect">
            <a:avLst>
              <a:gd name="adj" fmla="val 2326"/>
            </a:avLst>
          </a:prstGeom>
          <a:solidFill>
            <a:srgbClr val="0F2A47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302752" y="15544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defaults matter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8302752" y="1956816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control signals are assigned 0 before the case runs. Every output therefore has a value on every path — which is what prevents inferred latches.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92440" y="3895344"/>
            <a:ext cx="3529584" cy="2340864"/>
          </a:xfrm>
          <a:prstGeom prst="roundRect">
            <a:avLst>
              <a:gd name="adj" fmla="val 2344"/>
            </a:avLst>
          </a:prstGeom>
          <a:solidFill>
            <a:srgbClr val="F1F5F8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02752" y="41148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ROUNDING state?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302752" y="4517136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Round–shift–saturate is a long combinational path off a 38-bit accumulator. This state gives it a full clock cycle to settle before OUTPUT_READY registers the result.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— Symmetric Tap-Pair Mux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335024"/>
            <a:ext cx="7315200" cy="3127248"/>
          </a:xfrm>
          <a:prstGeom prst="roundRect">
            <a:avLst>
              <a:gd name="adj" fmla="val 1754"/>
            </a:avLst>
          </a:prstGeom>
          <a:solidFill>
            <a:srgbClr val="EDF2F6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13232" y="1444752"/>
            <a:ext cx="7022592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always @(*) begin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(sel)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0: begin mux_low = tap[0];  mux_high = tap[72]; end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1: begin mux_low = tap[1];  mux_high = tap[71]; end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// ...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35: begin mux_low = tap[35]; mux_high = tap[37]; end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36: begin mux_low = tap[36]; mux_high = '0;      end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default: begin mux_low = '0; mux_high = '0;      end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endcase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4645152"/>
            <a:ext cx="7315200" cy="1609344"/>
          </a:xfrm>
          <a:prstGeom prst="roundRect">
            <a:avLst>
              <a:gd name="adj" fmla="val 3409"/>
            </a:avLst>
          </a:prstGeom>
          <a:solidFill>
            <a:srgbClr val="0F2A47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86384" y="486460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default branch is mandatory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5230368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 is 6 bits, so values 37–63 are reachable. Without a default those leave the outputs unassigned and Vivado infers 32 latches — level-sensitive and untimeable.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92440" y="1335024"/>
            <a:ext cx="3529584" cy="2377440"/>
          </a:xfrm>
          <a:prstGeom prst="roundRect">
            <a:avLst>
              <a:gd name="adj" fmla="val 2308"/>
            </a:avLst>
          </a:prstGeom>
          <a:solidFill>
            <a:srgbClr val="F1F5F8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02752" y="15544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36 — the centre tap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8302752" y="1956816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x[n−36] has no partner. Forcing mux_high to zero makes the adder compute x[n−36] + 0, so h[36] multiplies it exactly once instead of twice.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92440" y="3913632"/>
            <a:ext cx="3529584" cy="2340864"/>
          </a:xfrm>
          <a:prstGeom prst="roundRect">
            <a:avLst>
              <a:gd name="adj" fmla="val 2344"/>
            </a:avLst>
          </a:prstGeom>
          <a:solidFill>
            <a:srgbClr val="0F2A47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302752" y="415137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302752" y="4553712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73-to-1 muxes ≈ 400 LUT6 + 129 MUXF7 — and they sit on the critical path.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— MAC Datapath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335024"/>
            <a:ext cx="5394960" cy="2834640"/>
          </a:xfrm>
          <a:prstGeom prst="roundRect">
            <a:avLst>
              <a:gd name="adj" fmla="val 1935"/>
            </a:avLst>
          </a:prstGeom>
          <a:solidFill>
            <a:srgbClr val="EDF2F6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13232" y="1444752"/>
            <a:ext cx="5102352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adder : x[k] + x[72-k]</a:t>
            </a: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always @(*)</a:t>
            </a: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 = tap1 + tap2;</a:t>
            </a: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multiplier -&gt; DSP48E1</a:t>
            </a: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always @(*)</a:t>
            </a: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product = sum * coeff;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27064" y="1335024"/>
            <a:ext cx="5394960" cy="2834640"/>
          </a:xfrm>
          <a:prstGeom prst="roundRect">
            <a:avLst>
              <a:gd name="adj" fmla="val 1935"/>
            </a:avLst>
          </a:prstGeom>
          <a:solidFill>
            <a:srgbClr val="EDF2F6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373368" y="1444752"/>
            <a:ext cx="5102352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38-bit accumulator</a:t>
            </a: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always @(posedge clk) begin</a:t>
            </a: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(!rst || clear)</a:t>
            </a: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acc_out &lt;= '0;</a:t>
            </a: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 if (acc_enb)</a:t>
            </a: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acc_out &lt;= acc_out + product;</a:t>
            </a: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4370832"/>
            <a:ext cx="11055096" cy="1188720"/>
          </a:xfrm>
          <a:prstGeom prst="roundRect">
            <a:avLst>
              <a:gd name="adj" fmla="val 4615"/>
            </a:avLst>
          </a:prstGeom>
          <a:solidFill>
            <a:srgbClr val="0F2A47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2960" y="4370832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signed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is the single most important keyword in the project. Without it the tools read 0xFF80 as +65408 instead of −128, and every negative sample gives a wrong product.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5797296"/>
            <a:ext cx="110550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5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Vivado absorbs the multiplier and the accumulator into one DSP48E1</a:t>
            </a:r>
            <a:endParaRPr lang="en-US" sz="155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5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38-bit accumulator lives in the DSP's 48-bit P register — zero fabric flip-flops</a:t>
            </a:r>
            <a:endParaRPr lang="en-US" sz="15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— Rounding, Shift &amp; Saturation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335024"/>
            <a:ext cx="7589520" cy="4059936"/>
          </a:xfrm>
          <a:prstGeom prst="roundRect">
            <a:avLst>
              <a:gd name="adj" fmla="val 1351"/>
            </a:avLst>
          </a:prstGeom>
          <a:solidFill>
            <a:srgbClr val="EDF2F6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13232" y="1444752"/>
            <a:ext cx="729691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always @(*) begin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rounded = acc_in + (1 &lt;&lt;&lt; (shift-1));   // + 2^10  round-half-up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shifted = rounded &gt;&gt;&gt; shift;            // &gt;&gt;&gt; 11  ARITHMETIC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     (shifted &gt;  38'sd32767) y_temp =  16'sd32767;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 if (shifted &lt; -38'sd32768) y_temp = -16'sd32768;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                            y_temp =  shifted[15:0];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always_ff @(posedge clk) begin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(!rst)         begin y_out &lt;= '0;     valid &lt;= 1'b0; end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 if (out_enb) begin y_out &lt;= y_temp; valid &lt;= 1'b1; end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                    valid &lt;= 1'b0;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321040" y="1335024"/>
            <a:ext cx="3300984" cy="1956816"/>
          </a:xfrm>
          <a:prstGeom prst="roundRect">
            <a:avLst>
              <a:gd name="adj" fmla="val 2804"/>
            </a:avLst>
          </a:prstGeom>
          <a:solidFill>
            <a:srgbClr val="0F2A47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522208" y="15544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 &gt;&gt;&gt;  not  &gt;&gt;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522208" y="1956816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arithmetic shift replicates the sign bit. With a logical shift every negative output would become a huge positive number.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321040" y="3474720"/>
            <a:ext cx="3300984" cy="1920240"/>
          </a:xfrm>
          <a:prstGeom prst="roundRect">
            <a:avLst>
              <a:gd name="adj" fmla="val 2857"/>
            </a:avLst>
          </a:prstGeom>
          <a:solidFill>
            <a:srgbClr val="F1F5F8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522208" y="369417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add 2¹⁰ first?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522208" y="4096512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bare shift truncates, which biases every result toward −∞. Adding half of the last retained bit turns that into unbiased round-half-up.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557784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Saturation, not wrap-around — a wrapped positive peak would become a large negative value. This matches the golden C model exactly.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Methodology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408176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66928" y="14081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389888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C model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700784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Fixed-point reference — the specification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368296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2368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350008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vectors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660904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input_samples.txt + coeffs_fixed.txt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66928" y="3328416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66928" y="33284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310128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SystemVerilog testbench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621024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Self-checking, reads the golden file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66928" y="4288536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66928" y="42885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270248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sample by sample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4581144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pass / fail automatically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66928" y="5248656"/>
            <a:ext cx="512064" cy="51206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66928" y="52486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5230368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On-board check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280160" y="5541264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select address, LEDs show result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7360920" y="1408176"/>
            <a:ext cx="4261104" cy="2331720"/>
          </a:xfrm>
          <a:prstGeom prst="roundRect">
            <a:avLst>
              <a:gd name="adj" fmla="val 2353"/>
            </a:avLst>
          </a:prstGeom>
          <a:solidFill>
            <a:srgbClr val="0F2A47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7360920" y="1737360"/>
            <a:ext cx="4261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/ 100</a:t>
            </a:r>
            <a:endParaRPr lang="en-US" sz="4600" dirty="0"/>
          </a:p>
        </p:txBody>
      </p:sp>
      <p:sp>
        <p:nvSpPr>
          <p:cNvPr id="27" name="Text 25"/>
          <p:cNvSpPr txBox="1"/>
          <p:nvPr/>
        </p:nvSpPr>
        <p:spPr>
          <a:xfrm>
            <a:off x="7360920" y="2651760"/>
            <a:ext cx="4261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match — bit-exact</a:t>
            </a:r>
            <a:endParaRPr lang="en-US" sz="14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mismatches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360920" y="4005072"/>
            <a:ext cx="4261104" cy="2231136"/>
          </a:xfrm>
          <a:prstGeom prst="roundRect">
            <a:avLst>
              <a:gd name="adj" fmla="val 2459"/>
            </a:avLst>
          </a:prstGeom>
          <a:solidFill>
            <a:srgbClr val="F1F5F8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7607808" y="42976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simulation:  PASS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7607808" y="486460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Post-synthesis:  PASS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607808" y="543153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(Artix-7):  PASS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 Waveform</a:t>
            </a:r>
            <a:endParaRPr lang="en-US" sz="3000" dirty="0"/>
          </a:p>
        </p:txBody>
      </p:sp>
      <p:pic>
        <p:nvPicPr>
          <p:cNvPr id="5" name="Image 0" descr="wave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300" y="1298448"/>
            <a:ext cx="11055096" cy="376732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66928" y="5230368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Vivado behavioural simulation — self-checking testbench, pass_count = 100, fail_count = 0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 Results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63040"/>
            <a:ext cx="5852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7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out_valid pulses exactly once per output sample</a:t>
            </a:r>
            <a:endParaRPr lang="en-US" sz="17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7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y_out tracks expected_out on every sample</a:t>
            </a:r>
            <a:endParaRPr lang="en-US" sz="17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7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pass_count reaches 100</a:t>
            </a:r>
            <a:endParaRPr lang="en-US" sz="17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7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fail_count stays at 0</a:t>
            </a:r>
            <a:endParaRPr lang="en-US" sz="17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7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 completes at 41.035 µs</a:t>
            </a:r>
            <a:endParaRPr lang="en-US" sz="17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426464"/>
          <a:ext cx="4946904" cy="914400"/>
        </p:xfrm>
        <a:graphic>
          <a:graphicData uri="http://schemas.openxmlformats.org/drawingml/2006/table">
            <a:tbl>
              <a:tblPr/>
              <a:tblGrid>
                <a:gridCol w="2935224"/>
                <a:gridCol w="2011680"/>
              </a:tblGrid>
              <a:tr h="4983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value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pass_count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fail_count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width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Simulation end time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41.035 µs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5029200"/>
            <a:ext cx="11055096" cy="1371600"/>
          </a:xfrm>
          <a:prstGeom prst="roundRect">
            <a:avLst>
              <a:gd name="adj" fmla="val 4000"/>
            </a:avLst>
          </a:prstGeom>
          <a:solidFill>
            <a:srgbClr val="0F2A47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22960" y="524865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measurement confirms the analysis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Predicted:  100 samples × 41 cycles × 10 ns  =  41.00 µs        Measured:  41.035 µs        (the extra 35 ns is the 3-cycle reset)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Utilisation</a:t>
            </a:r>
            <a:endParaRPr lang="en-US" sz="3000" dirty="0"/>
          </a:p>
        </p:txBody>
      </p:sp>
      <p:pic>
        <p:nvPicPr>
          <p:cNvPr id="5" name="Image 0" descr="design_ru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298448"/>
            <a:ext cx="11055096" cy="1490472"/>
          </a:xfrm>
          <a:prstGeom prst="rect">
            <a:avLst/>
          </a:prstGeom>
        </p:spPr>
      </p:pic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236976"/>
          <a:ext cx="57607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828800"/>
                <a:gridCol w="1828800"/>
              </a:tblGrid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Synthesis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558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553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1219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1220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BRAM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DSP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power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0.116 W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720840" y="3236976"/>
            <a:ext cx="4901184" cy="859536"/>
          </a:xfrm>
          <a:prstGeom prst="roundRect">
            <a:avLst>
              <a:gd name="adj" fmla="val 6383"/>
            </a:avLst>
          </a:prstGeom>
          <a:solidFill>
            <a:srgbClr val="F1F5F8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6931152" y="3291840"/>
            <a:ext cx="1325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1168 FF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8275320" y="3291840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taps × 16 bits — the shift register alone is 96 % of all flip-flops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720840" y="4242816"/>
            <a:ext cx="4901184" cy="859536"/>
          </a:xfrm>
          <a:prstGeom prst="roundRect">
            <a:avLst>
              <a:gd name="adj" fmla="val 6383"/>
            </a:avLst>
          </a:prstGeom>
          <a:solidFill>
            <a:srgbClr val="F1F5F8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6931152" y="4297680"/>
            <a:ext cx="1325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DSP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8275320" y="4297680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the multiplier and the 38-bit accumulator together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720840" y="5248656"/>
            <a:ext cx="4901184" cy="859536"/>
          </a:xfrm>
          <a:prstGeom prst="roundRect">
            <a:avLst>
              <a:gd name="adj" fmla="val 6383"/>
            </a:avLst>
          </a:prstGeom>
          <a:solidFill>
            <a:srgbClr val="F1F5F8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6931152" y="5303520"/>
            <a:ext cx="1325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 BRAM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8275320" y="5303520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RAMB18E1 half holding the 100-sample input ROM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Timing &amp; Throughput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335024"/>
            <a:ext cx="260604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66928" y="1515709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+2.262 ns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252350"/>
            <a:ext cx="260604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negative slack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335024"/>
            <a:ext cx="260604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383280" y="1515709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252350"/>
            <a:ext cx="260604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routes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99632" y="1335024"/>
            <a:ext cx="260604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199632" y="1515709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 µs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199632" y="2252350"/>
            <a:ext cx="260604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100 samples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15984" y="1335024"/>
            <a:ext cx="260604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015984" y="1515709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129 MHz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9015984" y="2252350"/>
            <a:ext cx="260604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achievable clock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962656"/>
          <a:ext cx="694944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3200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Clock period (constraint)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10.000 ns   (100 MHz)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Negative Slack  (WNS)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+2.262 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Negative Slack  (TNS)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 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Hold Slack  (WHS)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+0.084 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Hold Slack  (THS)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 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Cycles per output sample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 per sample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410 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samples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4100 cycles  =  41.0 µs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7726680" y="2962656"/>
            <a:ext cx="3895344" cy="1755648"/>
          </a:xfrm>
          <a:prstGeom prst="roundRect">
            <a:avLst>
              <a:gd name="adj" fmla="val 3125"/>
            </a:avLst>
          </a:prstGeom>
          <a:solidFill>
            <a:srgbClr val="0F2A47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936992" y="3182112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22.6 % margin</a:t>
            </a:r>
            <a:endParaRPr 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7936992" y="36576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timing met — no setup and no hold violations anywhere in the design.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726680" y="4974336"/>
            <a:ext cx="3895344" cy="1463040"/>
          </a:xfrm>
          <a:prstGeom prst="roundRect">
            <a:avLst>
              <a:gd name="adj" fmla="val 3750"/>
            </a:avLst>
          </a:prstGeom>
          <a:solidFill>
            <a:srgbClr val="F1F5F8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7936992" y="517550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Maximum sample rate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7936992" y="5614416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MHz ÷ 41  =  2.44 MSa/s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Path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316736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longest combinational path in the design — it sets the maximum clock frequency.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1920240"/>
            <a:ext cx="2395728" cy="1005840"/>
          </a:xfrm>
          <a:prstGeom prst="roundRect">
            <a:avLst>
              <a:gd name="adj" fmla="val 7273"/>
            </a:avLst>
          </a:prstGeom>
          <a:solidFill>
            <a:srgbClr val="F1F5F8"/>
          </a:solidFill>
          <a:ln w="12700">
            <a:solidFill>
              <a:srgbClr val="C3D0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208483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cycle_cnt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450592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 clk→Q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44952" y="2423160"/>
            <a:ext cx="310896" cy="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38144" y="1920240"/>
            <a:ext cx="2395728" cy="1005840"/>
          </a:xfrm>
          <a:prstGeom prst="roundRect">
            <a:avLst>
              <a:gd name="adj" fmla="val 7273"/>
            </a:avLst>
          </a:prstGeom>
          <a:solidFill>
            <a:srgbClr val="F1F5F8"/>
          </a:solidFill>
          <a:ln w="12700">
            <a:solidFill>
              <a:srgbClr val="C3D0D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38144" y="208483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tap_pair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38144" y="2450592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73:1 mux  (MUXF7)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16168" y="2423160"/>
            <a:ext cx="310896" cy="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309360" y="1920240"/>
            <a:ext cx="2395728" cy="1005840"/>
          </a:xfrm>
          <a:prstGeom prst="roundRect">
            <a:avLst>
              <a:gd name="adj" fmla="val 7273"/>
            </a:avLst>
          </a:prstGeom>
          <a:solidFill>
            <a:srgbClr val="F1F5F8"/>
          </a:solidFill>
          <a:ln w="12700">
            <a:solidFill>
              <a:srgbClr val="C3D0D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09360" y="208483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tap_adder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2450592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16-bit add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787384" y="2423160"/>
            <a:ext cx="310896" cy="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180576" y="1920240"/>
            <a:ext cx="2395728" cy="1005840"/>
          </a:xfrm>
          <a:prstGeom prst="roundRect">
            <a:avLst>
              <a:gd name="adj" fmla="val 7273"/>
            </a:avLst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80576" y="208483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DSP48E1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180576" y="2450592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/ B setup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3035808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parallel:   cycle_cnt  →  coeff_rom (distributed ROM)  →  DSP48E1 B port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566160"/>
          <a:ext cx="630936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Timing budget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Clock period (100 MHz constraint)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10.000 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path + clock skew + setup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7.738 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Negative Slack (WNS)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+ 2.262 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7269480" y="3566160"/>
            <a:ext cx="4352544" cy="1828800"/>
          </a:xfrm>
          <a:prstGeom prst="roundRect">
            <a:avLst>
              <a:gd name="adj" fmla="val 3000"/>
            </a:avLst>
          </a:prstGeom>
          <a:solidFill>
            <a:srgbClr val="0F2A47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7479792" y="374904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mux dominates</a:t>
            </a:r>
            <a:endParaRPr lang="en-US" sz="1550" dirty="0"/>
          </a:p>
        </p:txBody>
      </p:sp>
      <p:sp>
        <p:nvSpPr>
          <p:cNvPr id="25" name="Text 22"/>
          <p:cNvSpPr txBox="1"/>
          <p:nvPr/>
        </p:nvSpPr>
        <p:spPr>
          <a:xfrm>
            <a:off x="7479792" y="411480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2 of 73 registers needs a deep LUT6 + MUXF7 tree. Removing it in the optimised build raised WNS from +2.262 to +3.257 ns.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566928" y="5504688"/>
            <a:ext cx="11055096" cy="914400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822960" y="550468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Second-longest path:   </a:t>
            </a:r>
            <a:pPr indent="0" marL="0">
              <a:buNone/>
            </a:pPr>
            <a:r>
              <a:rPr lang="en-US" sz="14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acc_out (38-bit)  →  round + arithmetic shift + saturation  →  y_out.  The ROUNDING state gives it a cycle of its own.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Difficulties &amp; Solutions  (1 / 2)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353312"/>
            <a:ext cx="11055096" cy="1481328"/>
          </a:xfrm>
          <a:prstGeom prst="roundRect">
            <a:avLst>
              <a:gd name="adj" fmla="val 3704"/>
            </a:avLst>
          </a:prstGeom>
          <a:solidFill>
            <a:srgbClr val="F1F5F8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86384" y="1700784"/>
            <a:ext cx="530352" cy="530352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6384" y="17007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499616" y="149961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Testbench output mismatched the golden model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1499616" y="1883664"/>
            <a:ext cx="9875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 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multiplier and accumulator ports were plain logic, so the arithmetic was unsigned — negative samples became huge positives.
</a:t>
            </a:r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every arithmetic port  logic signed.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3017520"/>
            <a:ext cx="11055096" cy="1481328"/>
          </a:xfrm>
          <a:prstGeom prst="roundRect">
            <a:avLst>
              <a:gd name="adj" fmla="val 3704"/>
            </a:avLst>
          </a:prstGeom>
          <a:solidFill>
            <a:srgbClr val="F1F5F8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86384" y="3364992"/>
            <a:ext cx="530352" cy="530352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86384" y="33649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499616" y="3163824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way to feed samples on hardware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1499616" y="3547872"/>
            <a:ext cx="9875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 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testbench is not synthesisable, so the board has no source of stimulus.
</a:t>
            </a:r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an on-chip input_rom (100 × 16) with a read pointer advanced by out_valid.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" y="4681728"/>
            <a:ext cx="11055096" cy="1481328"/>
          </a:xfrm>
          <a:prstGeom prst="roundRect">
            <a:avLst>
              <a:gd name="adj" fmla="val 3704"/>
            </a:avLst>
          </a:prstGeom>
          <a:solidFill>
            <a:srgbClr val="F1F5F8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86384" y="5029200"/>
            <a:ext cx="530352" cy="530352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86384" y="5029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499616" y="4828032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$readmemh files not found during synthesis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1499616" y="5212080"/>
            <a:ext cx="9875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 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Vivado resolves data-file paths relative to the synthesis run directory, not the source directory.
</a:t>
            </a:r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 input_samples.txt and coeffs_fixed.txt in the synthesis run directory.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Difficulties &amp; Solutions  (2 / 2)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353312"/>
            <a:ext cx="11055096" cy="1481328"/>
          </a:xfrm>
          <a:prstGeom prst="roundRect">
            <a:avLst>
              <a:gd name="adj" fmla="val 3704"/>
            </a:avLst>
          </a:prstGeom>
          <a:solidFill>
            <a:srgbClr val="F1F5F8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86384" y="1700784"/>
            <a:ext cx="530352" cy="530352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6384" y="17007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499616" y="149961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too fast to observe — 41 µs for 100 samples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1499616" y="1883664"/>
            <a:ext cx="9875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 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100 MHz the entire run finishes long before an LED can visibly change.
</a:t>
            </a:r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written into an on-chip output RAM; slide switches select the address and the LEDs display out_ram[sw].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3017520"/>
            <a:ext cx="11055096" cy="1481328"/>
          </a:xfrm>
          <a:prstGeom prst="roundRect">
            <a:avLst>
              <a:gd name="adj" fmla="val 3704"/>
            </a:avLst>
          </a:prstGeom>
          <a:solidFill>
            <a:srgbClr val="F1F5F8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86384" y="3364992"/>
            <a:ext cx="530352" cy="530352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86384" y="33649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499616" y="3163824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LSBs of the LED output were wrong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1499616" y="3547872"/>
            <a:ext cx="9875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 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led[1] was mapped to an incorrect package pin in the XDC constraint file, giving a constant −2 offset on about half the samples.
</a:t>
            </a:r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the pin assignment — all 100 outputs then matched the golden model.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" y="4681728"/>
            <a:ext cx="11055096" cy="1481328"/>
          </a:xfrm>
          <a:prstGeom prst="roundRect">
            <a:avLst>
              <a:gd name="adj" fmla="val 3704"/>
            </a:avLst>
          </a:prstGeom>
          <a:solidFill>
            <a:srgbClr val="F1F5F8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86384" y="5029200"/>
            <a:ext cx="530352" cy="530352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86384" y="5029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499616" y="4828032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 latches inferred in the tap multiplexer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1499616" y="5212080"/>
            <a:ext cx="9875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 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statement left the outputs unassigned for sel values 37–63.
</a:t>
            </a:r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 default branch so every output is assigned on every path.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 — Further Resource Reduction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335024"/>
            <a:ext cx="11055096" cy="960120"/>
          </a:xfrm>
          <a:prstGeom prst="roundRect">
            <a:avLst>
              <a:gd name="adj" fmla="val 5714"/>
            </a:avLst>
          </a:prstGeom>
          <a:solidFill>
            <a:srgbClr val="0F2A47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335024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idea: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 move the data — move the addresses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505456"/>
            <a:ext cx="11055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 maths never requires the 73 samples to physically shift. It only needs x[n−k] and x[n−72+k] each cycle.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218688"/>
            <a:ext cx="6035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shift_reg + tap_pair with a circular buffer in distributed RAM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samples stay still; two mod-73 pointers walk toward each other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RAM address decoder replaces the 73:1 mux entirely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× 16 bits move from flip-flops into SLICEM LUTs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12280" y="3218688"/>
            <a:ext cx="4809744" cy="1280160"/>
          </a:xfrm>
          <a:prstGeom prst="roundRect">
            <a:avLst>
              <a:gd name="adj" fmla="val 4286"/>
            </a:avLst>
          </a:prstGeom>
          <a:solidFill>
            <a:srgbClr val="F1F5F8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022592" y="338328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  shift_reg + tap_pair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022592" y="37490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1168 FF   +   ~400 LUT6   +   129 MUXF7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217152" y="4553712"/>
            <a:ext cx="0" cy="310896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812280" y="4919472"/>
            <a:ext cx="4809744" cy="1280160"/>
          </a:xfrm>
          <a:prstGeom prst="roundRect">
            <a:avLst>
              <a:gd name="adj" fmla="val 4286"/>
            </a:avLst>
          </a:prstGeom>
          <a:solidFill>
            <a:srgbClr val="0F2A47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022592" y="508406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  delay_line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022592" y="5449824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~21 FF   +   ~90 LUT of distributed RAM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6163056"/>
            <a:ext cx="11055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optimisations:  bit-test saturation instead of two 38-bit comparators  ·  power-of-two debounce counter instead of an 18-bit comparator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 — Measured Result</a:t>
            </a:r>
            <a:endParaRPr lang="en-US" sz="3000" dirty="0"/>
          </a:p>
        </p:txBody>
      </p:sp>
      <p:pic>
        <p:nvPicPr>
          <p:cNvPr id="5" name="Image 0" descr="design_runs_o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298448"/>
            <a:ext cx="11055096" cy="1463040"/>
          </a:xfrm>
          <a:prstGeom prst="rect">
            <a:avLst/>
          </a:prstGeom>
        </p:spPr>
      </p:pic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163824"/>
          <a:ext cx="66751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554480"/>
                <a:gridCol w="1554480"/>
                <a:gridCol w="15544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− 39 %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− 92 %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− 100 %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2.262 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3.257 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+ 0.995 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0.116 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0.111 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− 4 %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Cycles / sample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unchanged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498080" y="3163824"/>
            <a:ext cx="4123944" cy="1664208"/>
          </a:xfrm>
          <a:prstGeom prst="roundRect">
            <a:avLst>
              <a:gd name="adj" fmla="val 3297"/>
            </a:avLst>
          </a:prstGeom>
          <a:solidFill>
            <a:srgbClr val="0F2A47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7708392" y="3364992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Timing improved too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7708392" y="3785616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73:1 mux was on the critical path — removing it buys area and speed at the same time.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7498080" y="5010912"/>
            <a:ext cx="4123944" cy="1481328"/>
          </a:xfrm>
          <a:prstGeom prst="roundRect">
            <a:avLst>
              <a:gd name="adj" fmla="val 3704"/>
            </a:avLst>
          </a:prstGeom>
          <a:solidFill>
            <a:srgbClr val="F1F5F8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7708392" y="5212080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1962 cells  →  437 cells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7708392" y="566928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throughput, bit-exact output, 0 failed routes.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26464"/>
            <a:ext cx="1105509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7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73-tap linear-phase FIR filter was designed, verified and implemented on Artix-7</a:t>
            </a:r>
            <a:endParaRPr lang="en-US" sz="17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7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symmetry halved the arithmetic: 73 → 37 multiplications</a:t>
            </a:r>
            <a:endParaRPr lang="en-US" sz="17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7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time-multiplexed MAC fits the whole filter in a single DSP slice</a:t>
            </a:r>
            <a:endParaRPr lang="en-US" sz="17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7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resources: 553 LUT, 1220 FF, 1 DSP, 0.5 BRAM, 0.116 W</a:t>
            </a:r>
            <a:endParaRPr lang="en-US" sz="17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7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closed with +2.262 ns slack; 100 samples in 41 µs</a:t>
            </a:r>
            <a:endParaRPr lang="en-US" sz="17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7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output is bit-exact with the golden C model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66928" y="4809744"/>
            <a:ext cx="5394960" cy="1591056"/>
          </a:xfrm>
          <a:prstGeom prst="roundRect">
            <a:avLst>
              <a:gd name="adj" fmla="val 3448"/>
            </a:avLst>
          </a:prstGeom>
          <a:solidFill>
            <a:srgbClr val="0F2A47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04672" y="501091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 — already validated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5431536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circular buffer cuts the design to 338 LUT / 99 FF / 0 BRAM at the same throughput.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27064" y="4809744"/>
            <a:ext cx="5394960" cy="1591056"/>
          </a:xfrm>
          <a:prstGeom prst="roundRect">
            <a:avLst>
              <a:gd name="adj" fmla="val 3448"/>
            </a:avLst>
          </a:prstGeom>
          <a:solidFill>
            <a:srgbClr val="F1F5F8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64808" y="501091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Further work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64808" y="5431536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DSP48E1 pre-adder so adder, multiplier and accumulator become one slice; add an AXI-Stream interface for real-time data.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44752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33856" y="1444752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G. Proakis and D. G. Manolakis, Digital Signal Processing: Principles, Algorithms and Applications, 4th ed., Pearson, 2007.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048256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33856" y="2048256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Xilinx Inc., 7 Series DSP48E1 Slice User Guide (UG479), 2018.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651760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33856" y="265176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Xilinx Inc., Vivado Design Suite User Guide: Synthesis (UG901), 2022.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3255264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33856" y="3255264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Xilinx Inc., 7 Series FPGAs Memory Resources User Guide (UG473), 2019.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385876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33856" y="3858768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Std 1800-2017, IEEE Standard for SystemVerilog, IEEE, 2018.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4462272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33856" y="4462272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VHDLwhiz, "FIR filter design — Part 2," online tutorial.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5065776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33856" y="5065776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rombarak, "FIR-Filter," GitHub repository.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5669280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133856" y="56692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Anthropic, "Claude AI," used for design review and documentation assistance.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023360" cy="4023360"/>
          </a:xfrm>
          <a:prstGeom prst="ellipse">
            <a:avLst/>
          </a:prstGeom>
          <a:solidFill>
            <a:srgbClr val="16395C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572000"/>
            <a:ext cx="3108960" cy="3108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233172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0" y="3310128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0" y="43434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 Samad     |     Abdur Rehman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0" y="4736592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 Design &amp; Verification  ·  Group 3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73-Tap Symmetric FIR Filter</dc:title>
  <dc:subject>PptxGenJS Presentation</dc:subject>
  <dc:creator>Abdul Samad, Abdur Rehman</dc:creator>
  <cp:lastModifiedBy>Abdul Samad, Abdur Rehman</cp:lastModifiedBy>
  <cp:revision>1</cp:revision>
  <dcterms:created xsi:type="dcterms:W3CDTF">2026-09-23T05:08:29Z</dcterms:created>
  <dcterms:modified xsi:type="dcterms:W3CDTF">2026-09-23T05:08:29Z</dcterms:modified>
</cp:coreProperties>
</file>