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92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73-tap linear-phase low-pass FIR on Artix-7. Two ideas: coefficient symmetry halves the multiplies (73 to 37), and time-multiplexing reuses one MAC 37 times so the whole filter fits in a single DSP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direct-form implementation needs one multiplier per tap. Folding plus time-multiplexing brings that to a single DSP48E1.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milestones. The golden C model came first deliberately: it is the specification the RTL is measured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counter, cycle_cnt, drives both the tap mux and the coefficient ROM address. That shared counter is the essence of time-multiplexing.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Coefficients get the most fractional bits because they peak at exactly 1.0 — 14 bits is the most precision that still represents 1.0 in 16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modules. shift_reg alone accounts for 1168 of the 1220 flip-flops.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is 37 cycles because cycle_cnt runs 0 to 36 inclusive. 100 samples x 41 = 4100 cycles = 41 microseconds at 100 MHz.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pass_count and fail_count on the left, and the 41.035 microsecond marker top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delay is derived from the constraint minus WNS: 10.000 - 2.262 = 7.738 ns. Run report_timing -max_paths 1 in Vivado to have it name the exact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377440" cy="2377440"/>
          </a:xfrm>
          <a:prstGeom prst="ellipse">
            <a:avLst/>
          </a:prstGeom>
          <a:solidFill>
            <a:srgbClr val="163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FPGA Implementation of a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73-Tap Symmetric FIR Filter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Time-Multiplexed MAC Architecture on Xilinx Artix-7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4398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Samad     |     Abdur Rehman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2803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&amp; Verification  ·  Ghulam Ishaq Khan Institute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33856" y="1481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1762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1762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871216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8712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Block Diagram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5661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566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26110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Format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9560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49560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Symmetry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650992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56509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Time-Multiplexed MAC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5080" y="1481328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1481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Modules &amp; Control FSM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5080" y="21762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21762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Code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5080" y="2871216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28712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Simulation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5080" y="35661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3566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Utilisation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4261104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5508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22008" y="426110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Critical Path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5080" y="49560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922008" y="49560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&amp; Solutions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5080" y="5650992"/>
            <a:ext cx="402336" cy="402336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55080" y="5650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22008" y="56509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73-tap low-pass FIR filter in SystemVerilog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Xilinx Artix-7 FPGA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bit-exact golden C model — zero tolerance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hardware: 1 multiplier, 1 adder, 1 accumulator</a:t>
            </a:r>
            <a:endParaRPr lang="en-US" sz="17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on real hardware via switches and LEDs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269480" y="1371600"/>
            <a:ext cx="4352544" cy="3054096"/>
          </a:xfrm>
          <a:prstGeom prst="roundRect">
            <a:avLst>
              <a:gd name="adj" fmla="val 1796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0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Constraint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76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parallel multipliers will not fit on the device.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305409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area for latency — reuse one MAC unit over many clock cycles.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83280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199632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slice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15984" y="4809744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15984" y="4999939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µs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015984" y="577535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samples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</a:t>
            </a:r>
            <a:endParaRPr lang="en-US" sz="3000" dirty="0"/>
          </a:p>
        </p:txBody>
      </p:sp>
      <p:pic>
        <p:nvPicPr>
          <p:cNvPr id="5" name="Image 0" descr="timel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768" y="1298448"/>
            <a:ext cx="8138160" cy="4453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161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→ block diagram → RTL &amp; simulation → FPGA implementation → reports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Block Diagram</a:t>
            </a:r>
            <a:endParaRPr lang="en-US" sz="3000" dirty="0"/>
          </a:p>
        </p:txBody>
      </p:sp>
      <p:pic>
        <p:nvPicPr>
          <p:cNvPr id="5" name="Image 0" descr="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608" y="1298448"/>
            <a:ext cx="8412480" cy="4453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9161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 → tap-pair mux → adder → multiplier → accumulator → rounding → y[n]</a:t>
            </a:r>
            <a:endParaRPr lang="en-US" sz="1200" dirty="0"/>
          </a:p>
        </p:txBody>
      </p:sp>
      <p:pic>
        <p:nvPicPr>
          <p:cNvPr id="1026" name="Picture 2" descr="FIR Filter">
            <a:extLst>
              <a:ext uri="{FF2B5EF4-FFF2-40B4-BE49-F238E27FC236}">
                <a16:creationId xmlns:a16="http://schemas.microsoft.com/office/drawing/2014/main" id="{C859E909-CA5F-4B4D-AC52-7CF88BEF1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4360926"/>
            <a:ext cx="32956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Specifications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6400800" cy="45720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FIR, low-pass, linear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taps 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h[k] = h[72 − k]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signed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(DSP48E1)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frequency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vector length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335024"/>
            <a:ext cx="4352544" cy="2157984"/>
          </a:xfrm>
          <a:prstGeom prst="roundRect">
            <a:avLst>
              <a:gd name="adj" fmla="val 2542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5" name="Text 4"/>
          <p:cNvSpPr txBox="1"/>
          <p:nvPr/>
        </p:nvSpPr>
        <p:spPr>
          <a:xfrm>
            <a:off x="7479792" y="15910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equation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79792" y="21396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y[n]  =  Σ  h[k] · x[n − k]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479792" y="27432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72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3730752"/>
            <a:ext cx="4352544" cy="1719072"/>
          </a:xfrm>
          <a:prstGeom prst="roundRect">
            <a:avLst>
              <a:gd name="adj" fmla="val 3191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479792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73 taps?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79792" y="4297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taps give a sharper transition band. We absorbed the cost with folding rather than reducing the tap count.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Fixed-Point Format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377737"/>
              </p:ext>
            </p:extLst>
          </p:nvPr>
        </p:nvGraphicFramePr>
        <p:xfrm>
          <a:off x="566928" y="1353312"/>
          <a:ext cx="6858000" cy="37444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Frac.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  x[n]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  h[k]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Q(2,14)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sum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Q(4,10)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extra 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Q(6,24)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Q(12,24)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guard 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  y[n]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Q(3,13)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353312"/>
            <a:ext cx="3986784" cy="2011680"/>
          </a:xfrm>
          <a:prstGeom prst="roundRect">
            <a:avLst>
              <a:gd name="adj" fmla="val 2727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45552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bits</a:t>
            </a:r>
            <a:endParaRPr lang="en-US" sz="1500" dirty="0"/>
          </a:p>
        </p:txBody>
      </p:sp>
      <p:sp>
        <p:nvSpPr>
          <p:cNvPr id="5" name="Text 5"/>
          <p:cNvSpPr txBox="1"/>
          <p:nvPr/>
        </p:nvSpPr>
        <p:spPr>
          <a:xfrm>
            <a:off x="7845552" y="195681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 log₂ 37 ⌉ = 6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+ 6 = 38 bits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provably cannot overflow.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35240" y="3566160"/>
            <a:ext cx="3986784" cy="2011680"/>
          </a:xfrm>
          <a:prstGeom prst="roundRect">
            <a:avLst>
              <a:gd name="adj" fmla="val 2727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845552" y="3767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stage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45552" y="415137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(+ 2¹⁰)
</a:t>
            </a: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(&gt;&gt;&gt; 11)
</a:t>
            </a: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± 32767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2486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fractional bits in the product, 13 wanted at the output  →  discard 24 − 13 = 11 bits.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  — Folding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533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Linear-phase FIR  ⇒  h[k] = h[N − 1 − k]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6583680" cy="1261872"/>
          </a:xfrm>
          <a:prstGeom prst="roundRect">
            <a:avLst>
              <a:gd name="adj" fmla="val 4348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8096" y="21762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y[n] = Σ h[k] ( x[n−k] + x[n−72+k] )  +  h[36] · x[n−36]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517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35                                                        centre tap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02736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multiplies  →  37 multiplies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ROM: 73  →  37 words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49 % arithmetic saving, zero accuracy loss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algebraic identity, not an approximation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353312"/>
          <a:ext cx="3986784" cy="2990088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pair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x[0] , x[72]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h[0]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x[1] , x[71]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⋮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x[35] , x[37]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h[35]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x[36] ,  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h[36]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635240" y="4498848"/>
            <a:ext cx="3986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 tap is unpaired — the second mux outputs zero so h[36] is counted exactly once.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Time-Multiplexed MAC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3502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=  Multiply–Accumulate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that computes  acc ← acc + a × b  every clock cycle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88336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multiplier and one accumulator exist in hardware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reused 37 times per output sample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counter drives the tap mux and the ROM address</a:t>
            </a:r>
            <a:endParaRPr lang="en-US" sz="16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is cleared at the start of every new sample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688336"/>
          <a:ext cx="4535424" cy="2743200"/>
        </p:xfrm>
        <a:graphic>
          <a:graphicData uri="http://schemas.openxmlformats.org/drawingml/2006/table">
            <a:tbl>
              <a:tblPr/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parallel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Time-multiplexed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per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slices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on Artix-7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086600" y="5550408"/>
            <a:ext cx="4535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traded for latency — and at 2.4 MSa/s the latency costs nothing.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Module Hierarchy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35024"/>
          <a:ext cx="11055096" cy="49789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Integration, debouncer, output RAM, LEDs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input_rom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16 test vectors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shift_reg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× 16 delay line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tap_pair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x[k] and x[72−k]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Comb. mux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tap_adder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x[k] + x[72−k]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Combinational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coeff_rom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× 16 coefficients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× coeff  (32-bit)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DSP48E1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38-bit running sum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/ shift / saturate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Comb. + reg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control_fsm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5-state Moore controller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9848" y="1444752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44475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761488" y="2048256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69848" y="2377440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23774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761488" y="2980944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69848" y="3310128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33101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× 37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761488" y="3913632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69848" y="4242816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2428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2761488" y="4846320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69848" y="5175504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51755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OUTPUT_READY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5797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IDLE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44752"/>
          <a:ext cx="6775704" cy="323240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7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signal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shift_en, clear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acc_enb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OUTPUT_READY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out_enb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sample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4956048"/>
            <a:ext cx="6775704" cy="1325880"/>
          </a:xfrm>
          <a:prstGeom prst="roundRect">
            <a:avLst>
              <a:gd name="adj" fmla="val 4138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074920" y="51572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Moore machine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550468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depend on the state alone, so every control signal is stable for the whole cycle — glitch-free and safe to drive enables.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Control FSM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315200" cy="4901184"/>
          </a:xfrm>
          <a:prstGeom prst="roundRect">
            <a:avLst>
              <a:gd name="adj" fmla="val 1119"/>
            </a:avLst>
          </a:prstGeom>
          <a:solidFill>
            <a:srgbClr val="EDF2F6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022592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(state)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IDLE:    if (sample_valid) next_state = LOAD;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LOAD: begin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shift_en   = 1'b1;          // push the new sample in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      = 1'b1;          // zero the accumulator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next_state = COMPUTE;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COMPUTE: begin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acc_enb = 1'b1;             // 37 MAC cycles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(cycle_cnt == 6'd36) next_state = ROUNDING;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ROUNDING:     next_state = OUTPUT_READY;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OUTPUT_READY: begin out_enb = 1'b1; next_state = IDLE;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092440" y="1335024"/>
            <a:ext cx="3529584" cy="2359152"/>
          </a:xfrm>
          <a:prstGeom prst="roundRect">
            <a:avLst>
              <a:gd name="adj" fmla="val 2326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02752" y="1554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defaults matter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302752" y="1956816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control signals are assigned 0 before the case runs. Every output therefore has a value on every path — which is what prevents inferred latches.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3895344"/>
            <a:ext cx="3529584" cy="2340864"/>
          </a:xfrm>
          <a:prstGeom prst="roundRect">
            <a:avLst>
              <a:gd name="adj" fmla="val 234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4114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ROUNDING state?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4517136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Round–shift–saturate is a long combinational path off a 38-bit accumulator. This state gives it a full clock cycle to settle before OUTPUT_READY registers the result.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 Tap-Pair Mux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315200" cy="3127248"/>
          </a:xfrm>
          <a:prstGeom prst="roundRect">
            <a:avLst>
              <a:gd name="adj" fmla="val 1754"/>
            </a:avLst>
          </a:prstGeom>
          <a:solidFill>
            <a:srgbClr val="EDF2F6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02259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 begin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(sel)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0: begin mux_low = tap[0];  mux_high = tap[72];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1: begin mux_low = tap[1];  mux_high = tap[71];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...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35: begin mux_low = tap[35]; mux_high = tap[37];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36: begin mux_low = tap[36]; mux_high = '0;     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begin mux_low = '0; mux_high = '0;      end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endcase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645152"/>
            <a:ext cx="7315200" cy="1609344"/>
          </a:xfrm>
          <a:prstGeom prst="roundRect">
            <a:avLst>
              <a:gd name="adj" fmla="val 3409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384" y="48646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branch is mandatory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523036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is 6 bits, so values 37–63 are reachable. Without a default those leave the outputs unassigned and Vivado infers 32 latches — level-sensitive and untimeable.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335024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1554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36 — the centre tap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1956816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x[n−36] has no partner. Forcing mux_high to zero makes the adder compute x[n−36] + 0, so h[36] multiplies it exactly once instead of twice.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3913632"/>
            <a:ext cx="3529584" cy="2340864"/>
          </a:xfrm>
          <a:prstGeom prst="roundRect">
            <a:avLst>
              <a:gd name="adj" fmla="val 2344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02752" y="4151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455371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37-to-1 muxes ≈ 400 LUT6 + 129 MUXF7 — and they sit on the critical path.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MAC Datapath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DF2F6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510235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adder : x[k] + x[72-k]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= tap1 + tap2;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multiplier -&gt; DSP48E1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= sum * coeff;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27064" y="1335024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DF2F6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444752"/>
            <a:ext cx="510235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38-bit accumulator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@(posedge clk) begin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(!rst || clear)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acc_out &lt;= '0;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(acc_enb)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acc_out &lt;= acc_out + product;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370832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3708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single most important keyword in the project. Without it the tools read 0xFF80 as +65408 instead of −128, and every negative sample gives a wrong product.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797296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absorbs the multiplier and the accumulator into one DSP48E1</a:t>
            </a:r>
            <a:endParaRPr lang="en-US" sz="15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38-bit accumulator lives in the DSP's 48-bit P register — zero fabric flip-flops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— Rounding, Shift &amp; Saturation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7589520" cy="4059936"/>
          </a:xfrm>
          <a:prstGeom prst="roundRect">
            <a:avLst>
              <a:gd name="adj" fmla="val 1351"/>
            </a:avLst>
          </a:prstGeom>
          <a:solidFill>
            <a:srgbClr val="EDF2F6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444752"/>
            <a:ext cx="72969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@(*) begin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 = acc_in + (1 &lt;&lt;&lt; (shift-1));   // + 2^10  round-half-up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shifted = rounded &gt;&gt;&gt; shift;            // &gt;&gt;&gt; 11  ARITHMETIC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     (shifted &gt;  38'sd32767) y_temp =  16'sd32767;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(shifted &lt; -38'sd32768) y_temp = -16'sd32768;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              y_temp =  shifted[15:0];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always_ff @(posedge clk) begin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(!rst)         begin y_out &lt;= '0;     valid &lt;= 1'b0; end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(out_enb) begin y_out &lt;= y_temp; valid &lt;= 1'b1; end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      valid &lt;= 1'b0;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21040" y="1335024"/>
            <a:ext cx="3300984" cy="1956816"/>
          </a:xfrm>
          <a:prstGeom prst="roundRect">
            <a:avLst>
              <a:gd name="adj" fmla="val 2804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522208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 &gt;&gt;&gt;  not  &gt;&gt;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22208" y="195681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shift replicates the sign bit. With a logical shift every negative output would become a huge positive number.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3474720"/>
            <a:ext cx="3300984" cy="1920240"/>
          </a:xfrm>
          <a:prstGeom prst="roundRect">
            <a:avLst>
              <a:gd name="adj" fmla="val 2857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22208" y="3694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 2¹⁰ first?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22208" y="409651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shift truncates, which biases every result toward −∞. Adding half of the last retained bit turns that into unbiased round-half-up.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Saturation, not wrap-around — a wrapped positive peak would become a large negative value. This matches the golden C model exactly.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8988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007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reference — the specification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3682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368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00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vectors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609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input_samples.txt + coeffs_fixed.txt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328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3101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SystemVerilog testbench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6210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Self-checking, reads the golden file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2885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4288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7024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sample by sample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811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pass / fail automatically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5248656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check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5412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select address, LEDs show result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1408176"/>
            <a:ext cx="4261104" cy="2331720"/>
          </a:xfrm>
          <a:prstGeom prst="roundRect">
            <a:avLst>
              <a:gd name="adj" fmla="val 2353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60920" y="173736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100</a:t>
            </a:r>
            <a:endParaRPr lang="en-US" sz="4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651760"/>
            <a:ext cx="4261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match — bit-exact</a:t>
            </a:r>
            <a:endParaRPr lang="en-US" sz="14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mismatches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0920" y="4005072"/>
            <a:ext cx="4261104" cy="2231136"/>
          </a:xfrm>
          <a:prstGeom prst="roundRect">
            <a:avLst>
              <a:gd name="adj" fmla="val 2459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607808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simulation:  PASS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607808" y="4864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Post-synthesis:  PASS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07808" y="5431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(Artix-7):  PASS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Waveform</a:t>
            </a:r>
            <a:endParaRPr lang="en-US" sz="3000" dirty="0"/>
          </a:p>
        </p:txBody>
      </p:sp>
      <p:pic>
        <p:nvPicPr>
          <p:cNvPr id="5" name="Image 0" descr="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00" y="1298448"/>
            <a:ext cx="11055096" cy="3767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23036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behavioural simulation — self-checking testbench, pass_count = 100, fail_count = 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out_valid pulses exactly once per output sample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y_out tracks expected_out on every sample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pass_count reaches 100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fail_count stays at 0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completes at 41.035 µs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26464"/>
          <a:ext cx="4946904" cy="3488436"/>
        </p:xfrm>
        <a:graphic>
          <a:graphicData uri="http://schemas.openxmlformats.org/drawingml/2006/table">
            <a:tbl>
              <a:tblPr/>
              <a:tblGrid>
                <a:gridCol w="2935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pass_count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fail_count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end time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41.035 µs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029200"/>
            <a:ext cx="11055096" cy="1371600"/>
          </a:xfrm>
          <a:prstGeom prst="roundRect">
            <a:avLst>
              <a:gd name="adj" fmla="val 4000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524865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confirms the analysis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100 samples × 41 cycles × 10 ns  =  41.00 µs        Measured:  41.035 µs        (the extra 35 ns is the 3-cycle reset)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Utilisation</a:t>
            </a:r>
            <a:endParaRPr lang="en-US" sz="3000" dirty="0"/>
          </a:p>
        </p:txBody>
      </p:sp>
      <p:pic>
        <p:nvPicPr>
          <p:cNvPr id="5" name="Image 0" descr="design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11055096" cy="1490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36976"/>
          <a:ext cx="5760720" cy="282549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1219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power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 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720840" y="323697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931152" y="329184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1168 FF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32918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taps × 16 bits — the shift register alone is 96 % of all flip-flops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720840" y="424281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931152" y="429768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DSP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75320" y="429768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multiplier and the 38-bit accumulator together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720840" y="5248656"/>
            <a:ext cx="4901184" cy="859536"/>
          </a:xfrm>
          <a:prstGeom prst="roundRect">
            <a:avLst>
              <a:gd name="adj" fmla="val 6383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931152" y="530352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BRAM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53035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RAMB18E1 half holding the 100-sample input ROM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&amp; Throughput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+2.262 ns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negative slack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routes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µs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 samples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15984" y="1335024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15984" y="1515709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 MHz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015984" y="2252350"/>
            <a:ext cx="26060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clock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62656"/>
          <a:ext cx="6949440" cy="32918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period (constraint)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 ns   (100 MHz)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Negative Slack  (WNS)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Negative Slack  (TNS)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Hold Slack  (WHS)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+0.084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Hold Slack  (THS)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per output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per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4100 cycles  =  41.0 µs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726680" y="2962656"/>
            <a:ext cx="3895344" cy="1755648"/>
          </a:xfrm>
          <a:prstGeom prst="roundRect">
            <a:avLst>
              <a:gd name="adj" fmla="val 3125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936992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22.6 % margin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936992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timing met — no setup and no hold violations anywhere in the design.</a:t>
            </a:r>
            <a:endParaRPr lang="en-US" sz="1300" dirty="0"/>
          </a:p>
        </p:txBody>
      </p:sp>
      <p:sp>
        <p:nvSpPr>
          <p:cNvPr id="17" name="Shape 18"/>
          <p:cNvSpPr/>
          <p:nvPr/>
        </p:nvSpPr>
        <p:spPr>
          <a:xfrm>
            <a:off x="7726680" y="4974336"/>
            <a:ext cx="389534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936992" y="51755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sample rate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936992" y="56144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÷ 41  =  2.44 MSa/s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16736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combinational path in the design — it sets the maximum clock frequency.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cycle_cnt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 clk→Q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44952" y="2423160"/>
            <a:ext cx="310896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38144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tap_pair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37:1 mux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16168" y="2423160"/>
            <a:ext cx="310896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F1F5F8"/>
          </a:solidFill>
          <a:ln w="12700">
            <a:solidFill>
              <a:srgbClr val="C3D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tap_adder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add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87384" y="2423160"/>
            <a:ext cx="310896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0576" y="1920240"/>
            <a:ext cx="2395728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0576" y="20848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DSP48E1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450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setup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03580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parallel:   cycle_cnt  →  coeff_rom (distributed ROM)  →  DSP48E1 B port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66160"/>
          <a:ext cx="6309360" cy="1828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period (100 MHz constraint)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path + clock skew +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7.738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Negative Slack (WNS)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269480" y="3566160"/>
            <a:ext cx="4352544" cy="1828800"/>
          </a:xfrm>
          <a:prstGeom prst="roundRect">
            <a:avLst>
              <a:gd name="adj" fmla="val 3000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479792" y="37490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mux dominates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7479792" y="4114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2 of 73 registers needs a deep LUT6 + MUXF7 tree. Removing it in the optimised build raised WNS from +2.262 to +3.257 ns.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5504688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2960" y="55046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Second-longest path:   </a:t>
            </a: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acc_out (38-bit)  →  round + arithmetic shift + saturation  →  y_out.  The ROUNDING state gives it a cycle of its own.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&amp; Solutions  (1 /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0078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700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996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Testbench output mismatched the golden model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883664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and accumulator ports were plain logic, so the arithmetic was unsigned — negative samples became huge positives.
</a:t>
            </a: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every arithmetic port  logic signed.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336499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1638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feed samples on hardware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3547872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testbench is not synthesisable, so the board has no source of stimulus.
</a:t>
            </a: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on-chip input_rom (100 × 16) with a read pointer advanced by out_valid.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81728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502920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8280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$readmemh files not found during synthesis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521208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resolves data-file paths relative to the synthesis run directory, not the source directory.
</a:t>
            </a: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input_samples.txt and coeffs_fixed.txt in the synthesis run directory.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&amp; Solutions  (2 /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0078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700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4996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too fast to observe — 41 µs for 100 samples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1883664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 MHz the entire run finishes long before an LED can visibly change.
</a:t>
            </a: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into an on-chip output RAM; slide switches select the address and the LEDs display out_ram[sw].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336499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16382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LSBs of the LED output were wrong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3547872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led[1] was mapped to an incorrect package pin in the XDC constraint file, giving a constant −2 offset on about half the samples.
</a:t>
            </a: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the pin assignment — all 100 outputs then matched the golden model.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81728"/>
            <a:ext cx="11055096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502920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8280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latches inferred in the tap multiplexer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5212080"/>
            <a:ext cx="9875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statement left the outputs unassigned for sel values 37–63.
</a:t>
            </a: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 </a:t>
            </a: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default branch so every output is assigned on every path.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— Further Resource Reduction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33502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idea:  </a:t>
            </a: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move the data — move the addresses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0545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 maths never requires the 73 samples to physically shift. It only needs x[n−k] and x[n−72+k] each cycle.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218688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shift_reg + tap_pair with a circular buffer in distributed RAM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samples stay still; two mod-73 pointers walk toward each other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 address decoder replaces the 37:1 two </a:t>
            </a:r>
            <a:r>
              <a:rPr lang="en-US" sz="1600" dirty="0" err="1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muxes</a:t>
            </a: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entirely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× 16 bits move from flip-flops into SLICEM LUTs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12280" y="3218688"/>
            <a:ext cx="4809744" cy="1280160"/>
          </a:xfrm>
          <a:prstGeom prst="roundRect">
            <a:avLst>
              <a:gd name="adj" fmla="val 4286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22592" y="33832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  shift_reg + tap_pair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1168 FF   +   ~400 LUT6   +   129 MUXF7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17152" y="4553712"/>
            <a:ext cx="0" cy="310896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4919472"/>
            <a:ext cx="4809744" cy="1280160"/>
          </a:xfrm>
          <a:prstGeom prst="roundRect">
            <a:avLst>
              <a:gd name="adj" fmla="val 4286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22592" y="5084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  delay_line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54498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FF   +   ~90 LUT of distributed RAM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optimisations:  bit-test saturation instead of two 38-bit comparators  ·  power-of-two debounce counter instead of an 18-bit comparator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— Measured Result</a:t>
            </a:r>
            <a:endParaRPr lang="en-US" sz="3000" dirty="0"/>
          </a:p>
        </p:txBody>
      </p:sp>
      <p:pic>
        <p:nvPicPr>
          <p:cNvPr id="5" name="Image 0" descr="design_runs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11055096" cy="146304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163824"/>
          <a:ext cx="667512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− 39 %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− 92 %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− 100 %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3.257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+ 0.995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/ sample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3163824"/>
            <a:ext cx="4123944" cy="1664208"/>
          </a:xfrm>
          <a:prstGeom prst="roundRect">
            <a:avLst>
              <a:gd name="adj" fmla="val 3297"/>
            </a:avLst>
          </a:prstGeom>
          <a:solidFill>
            <a:srgbClr val="0F2A47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08392" y="33649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improved too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08392" y="3785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73:1 mux was on the critical path — removing it buys area and speed at the same time.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498080" y="5010912"/>
            <a:ext cx="4123944" cy="1481328"/>
          </a:xfrm>
          <a:prstGeom prst="roundRect">
            <a:avLst>
              <a:gd name="adj" fmla="val 3704"/>
            </a:avLst>
          </a:prstGeom>
          <a:solidFill>
            <a:srgbClr val="F1F5F8"/>
          </a:solidFill>
          <a:ln/>
          <a:effectLst>
            <a:outerShdw blurRad="1016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708392" y="521208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 cells  →  437 cells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708392" y="56692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throughput, bit-exact output, 0 failed routes.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110550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73-tap linear-phase FIR filter was designed, verified and implemented on Artix-7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symmetry halved the arithmetic: 73 → 37 multiplications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time-multiplexed MAC fits the whole filter in a single DSP slice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resources: 553 LUT, 1220 FF, 1 DSP, 0.5 BRAM, 0.116 W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closed with +2.262 ns slack; 100 samples in 41 µs</a:t>
            </a:r>
            <a:endParaRPr lang="en-US" sz="17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output is bit-exact with the golden C model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54315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buffer cuts the design to 338 LUT / 99 FF / 0 BRAM at the same throughput.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02336"/>
            <a:ext cx="10488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44475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G. Proakis and D. G. Manolakis, Digital Signal Processing: Principles, Algorithms and Applications, 4th ed., Pearson, 2007.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4825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04825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7 Series DSP48E1 Slice User Guide (UG479), 2018.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5176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6517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Vivado Design Suite User Guide: Synthesis (UG901), 2022.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25526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32552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Inc., 7 Series FPGAs Memory Resources User Guide (UG473), 2019.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587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85876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1800-2017, IEEE Standard for SystemVerilog, IEEE, 2018.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6227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446227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VHDLwhiz, "FIR filter design — Part 2," online tutorial.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06577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506577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rombarak, "FIR-Filter," GitHub repository.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6928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56692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"Claude AI," used for design review and documentation assistance.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163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57200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Samad     |     Abdur Rehman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473659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&amp; Verification  ·  Group 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3247</Words>
  <Application>Microsoft Office PowerPoint</Application>
  <PresentationFormat>Widescreen</PresentationFormat>
  <Paragraphs>598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73-Tap Symmetric FIR Filter</dc:title>
  <dc:subject>PptxGenJS Presentation</dc:subject>
  <dc:creator>Abdul Samad, Abdur Rehman</dc:creator>
  <cp:lastModifiedBy>Rana Abdur rehman</cp:lastModifiedBy>
  <cp:revision>9</cp:revision>
  <dcterms:created xsi:type="dcterms:W3CDTF">2026-09-23T05:08:29Z</dcterms:created>
  <dcterms:modified xsi:type="dcterms:W3CDTF">2026-09-24T01:54:25Z</dcterms:modified>
</cp:coreProperties>
</file>